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Revenue by Region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410</c:v>
                </c:pt>
                <c:pt idx="2">
                  <c:v>480</c:v>
                </c:pt>
                <c:pt idx="3">
                  <c:v>380</c:v>
                </c:pt>
                <c:pt idx="4">
                  <c:v>610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Monthly Revenue &amp; Profit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160</c:v>
                </c:pt>
                <c:pt idx="1">
                  <c:v>175</c:v>
                </c:pt>
                <c:pt idx="2">
                  <c:v>190</c:v>
                </c:pt>
                <c:pt idx="3">
                  <c:v>185</c:v>
                </c:pt>
                <c:pt idx="4">
                  <c:v>210</c:v>
                </c:pt>
                <c:pt idx="5">
                  <c:v>225</c:v>
                </c:pt>
                <c:pt idx="6">
                  <c:v>215</c:v>
                </c:pt>
                <c:pt idx="7">
                  <c:v>240</c:v>
                </c:pt>
                <c:pt idx="8">
                  <c:v>255</c:v>
                </c:pt>
                <c:pt idx="9">
                  <c:v>245</c:v>
                </c:pt>
                <c:pt idx="10">
                  <c:v>280</c:v>
                </c:pt>
                <c:pt idx="11">
                  <c:v>310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</c:v>
                </c:pt>
                <c:pt idx="1">
                  <c:v>48</c:v>
                </c:pt>
                <c:pt idx="2">
                  <c:v>54</c:v>
                </c:pt>
                <c:pt idx="3">
                  <c:v>50</c:v>
                </c:pt>
                <c:pt idx="4">
                  <c:v>62</c:v>
                </c:pt>
                <c:pt idx="5">
                  <c:v>68</c:v>
                </c:pt>
                <c:pt idx="6">
                  <c:v>63</c:v>
                </c:pt>
                <c:pt idx="7">
                  <c:v>72</c:v>
                </c:pt>
                <c:pt idx="8">
                  <c:v>78</c:v>
                </c:pt>
                <c:pt idx="9">
                  <c:v>74</c:v>
                </c:pt>
                <c:pt idx="10">
                  <c:v>88</c:v>
                </c:pt>
                <c:pt idx="11">
                  <c:v>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EC4899"/>
              </a:solidFill>
              <a:effectLst/>
            </c:spPr>
          </c:dPt>
          <c:dPt>
            <c:idx val="4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Clothing</c:v>
                </c:pt>
                <c:pt idx="2">
                  <c:v>Furniture</c:v>
                </c:pt>
                <c:pt idx="3">
                  <c:v>Food</c:v>
                </c:pt>
                <c:pt idx="4">
                  <c:v>Sports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22</c:v>
                </c:pt>
                <c:pt idx="2">
                  <c:v>18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Top Products by Profit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Laptop</c:v>
                  </c:pt>
                  <c:pt idx="1">
                    <c:v>Smartphone</c:v>
                  </c:pt>
                  <c:pt idx="2">
                    <c:v>Chair</c:v>
                  </c:pt>
                  <c:pt idx="3">
                    <c:v>TV</c:v>
                  </c:pt>
                  <c:pt idx="4">
                    <c:v>Jacket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</c:v>
                </c:pt>
                <c:pt idx="1">
                  <c:v>122</c:v>
                </c:pt>
                <c:pt idx="2">
                  <c:v>95</c:v>
                </c:pt>
                <c:pt idx="3">
                  <c:v>88</c:v>
                </c:pt>
                <c:pt idx="4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Orders by Payment Channel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Credit Card</c:v>
                  </c:pt>
                  <c:pt idx="1">
                    <c:v>UPI</c:v>
                  </c:pt>
                  <c:pt idx="2">
                    <c:v>Net Banking</c:v>
                  </c:pt>
                  <c:pt idx="3">
                    <c:v>COD</c:v>
                  </c:pt>
                  <c:pt idx="4">
                    <c:v>Wallet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1420</c:v>
                </c:pt>
                <c:pt idx="1">
                  <c:v>980</c:v>
                </c:pt>
                <c:pt idx="2">
                  <c:v>650</c:v>
                </c:pt>
                <c:pt idx="3">
                  <c:v>730</c:v>
                </c:pt>
                <c:pt idx="4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</a:rPr>
              <a:t>BUSINESS SALES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Analytics Dashboard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Data-Driven Insights for Business Growth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1554480" cy="347472"/>
          </a:xfrm>
          <a:prstGeom prst="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4114800"/>
            <a:ext cx="1554480" cy="347472"/>
          </a:xfrm>
          <a:prstGeom prst="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Pandas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4114800"/>
            <a:ext cx="1554480" cy="347472"/>
          </a:xfrm>
          <a:prstGeom prst="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4114800"/>
            <a:ext cx="1554480" cy="347472"/>
          </a:xfrm>
          <a:prstGeom prst="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Seaborn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4114800"/>
            <a:ext cx="1554480" cy="347472"/>
          </a:xfrm>
          <a:prstGeom prst="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Excel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01 /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Overview &amp; 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3200400"/>
          </a:xfrm>
          <a:prstGeom prst="rect">
            <a:avLst>
              <a:gd name="adj" fmla="val 2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This project analyzes business sales data to extract meaningful insights and support strategic decision-making. Using Python and advanced visualization techniques, we examine revenue, profit, customer behavior, and performance trends over time to drive business growth.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200400"/>
            <a:ext cx="82296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280160"/>
            <a:ext cx="4114800" cy="3200400"/>
          </a:xfrm>
          <a:prstGeom prst="rect">
            <a:avLst>
              <a:gd name="adj" fmla="val 2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37760" y="1874520"/>
            <a:ext cx="3657600" cy="548640"/>
          </a:xfrm>
          <a:prstGeom prst="rect">
            <a:avLst>
              <a:gd name="adj" fmla="val 13333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10912" y="18745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9496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Track performance across products &amp; regions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37760" y="2532888"/>
            <a:ext cx="3657600" cy="548640"/>
          </a:xfrm>
          <a:prstGeom prst="rect">
            <a:avLst>
              <a:gd name="adj" fmla="val 13333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10912" y="253288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94960" y="2532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Understand profit trends over time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937760" y="3191256"/>
            <a:ext cx="3657600" cy="548640"/>
          </a:xfrm>
          <a:prstGeom prst="rect">
            <a:avLst>
              <a:gd name="adj" fmla="val 13333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10912" y="3191256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94960" y="3191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Identify top-performing areas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937760" y="3849624"/>
            <a:ext cx="3657600" cy="548640"/>
          </a:xfrm>
          <a:prstGeom prst="rect">
            <a:avLst>
              <a:gd name="adj" fmla="val 13333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10912" y="3849624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94960" y="38496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Make data-driven business decisions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02 /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Aim to Achieve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01168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1790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Revenue &amp; Profit Trends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Analyze revenue, profit, and sales performance over time across all segments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06040" y="1325880"/>
            <a:ext cx="201168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490472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51790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Best Performers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69748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Identify best-performing products, regions, and categories driving growth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846320" y="1325880"/>
            <a:ext cx="201168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83480" y="1490472"/>
            <a:ext cx="457200" cy="45720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17904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3776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Customer Behavior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93776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Study purchasing patterns and payment preferences of customers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463040" y="2926080"/>
            <a:ext cx="201168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600200" y="3090672"/>
            <a:ext cx="457200" cy="457200"/>
          </a:xfrm>
          <a:prstGeom prst="ellipse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3118104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Visual Dashboard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554480" y="3886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Create insightful charts and KPI dashboards for at-a-glance metrics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703320" y="2926080"/>
            <a:ext cx="201168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840480" y="3090672"/>
            <a:ext cx="457200" cy="457200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912" y="3118104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76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Actionable Insights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794760" y="3886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Provide clear, data-backed recommendations for business growth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03 / Data &amp;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Dataset Description &amp; Technologies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120640" cy="3383280"/>
          </a:xfrm>
          <a:prstGeom prst="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Dataset Fields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202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Order ID, Customer 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2167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Unique identifiers per transaction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877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Date (Month, Quarter)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8346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Time-based segmentation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5526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 &amp; Category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3502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Item and classification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2277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4169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Geographic location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71800" y="1920240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19202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Units Sold, Unit Price &amp; Cost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81528" y="2167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Volume and financial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71800" y="2587752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81528" y="25877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Revenue, Total Cost, Profit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81528" y="28346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Core financial KPIs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71800" y="3255264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81528" y="325526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Profit Margin (%)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81528" y="3502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Profitability ratio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71800" y="3922776"/>
            <a:ext cx="365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81528" y="392277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Payment Channel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81528" y="4169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Transaction method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60720" y="1280160"/>
            <a:ext cx="3108960" cy="3383280"/>
          </a:xfrm>
          <a:prstGeom prst="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8932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0" y="1847088"/>
            <a:ext cx="2743200" cy="502920"/>
          </a:xfrm>
          <a:prstGeom prst="rect">
            <a:avLst>
              <a:gd name="adj" fmla="val 14545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16752" y="1883664"/>
            <a:ext cx="384048" cy="384048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85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911096"/>
            <a:ext cx="329184" cy="32918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473952" y="1847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73952" y="2121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Core language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943600" y="2414016"/>
            <a:ext cx="2743200" cy="502920"/>
          </a:xfrm>
          <a:prstGeom prst="rect">
            <a:avLst>
              <a:gd name="adj" fmla="val 14545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16752" y="2450592"/>
            <a:ext cx="384048" cy="384048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2478024"/>
            <a:ext cx="329184" cy="329184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473952" y="24140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6473952" y="2688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Data analysis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5943600" y="2980944"/>
            <a:ext cx="2743200" cy="502920"/>
          </a:xfrm>
          <a:prstGeom prst="rect">
            <a:avLst>
              <a:gd name="adj" fmla="val 14545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016752" y="3017520"/>
            <a:ext cx="384048" cy="384048"/>
          </a:xfrm>
          <a:prstGeom prst="ellipse">
            <a:avLst/>
          </a:prstGeom>
          <a:solidFill>
            <a:srgbClr val="EC4899">
              <a:alpha val="85000"/>
            </a:srgbClr>
          </a:solidFill>
          <a:ln w="12700">
            <a:solidFill>
              <a:srgbClr val="EC4899">
                <a:alpha val="85000"/>
              </a:srgbClr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3044952"/>
            <a:ext cx="329184" cy="329184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473952" y="29809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6473952" y="32552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Visualization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5943600" y="3547872"/>
            <a:ext cx="2743200" cy="502920"/>
          </a:xfrm>
          <a:prstGeom prst="rect">
            <a:avLst>
              <a:gd name="adj" fmla="val 14545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016752" y="3584448"/>
            <a:ext cx="384048" cy="384048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3611880"/>
            <a:ext cx="329184" cy="329184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6473952" y="3547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Seaborn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6473952" y="3822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Statistical plots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5943600" y="4114800"/>
            <a:ext cx="2743200" cy="502920"/>
          </a:xfrm>
          <a:prstGeom prst="rect">
            <a:avLst>
              <a:gd name="adj" fmla="val 14545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6016752" y="4151376"/>
            <a:ext cx="384048" cy="384048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4178808"/>
            <a:ext cx="329184" cy="329184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6473952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6473952" y="4389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Data source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04 /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KPI Summary &amp; Visual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$2.4M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$680K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Total Profit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201168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4,230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05840"/>
            <a:ext cx="201168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$567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00584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100584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005840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005840"/>
            <a:ext cx="201168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320040" y="219456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4663440" y="2194560"/>
          <a:ext cx="4160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05 /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Deep-Dive Analysis Performed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4300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480560" y="1143000"/>
          <a:ext cx="4343400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4480560" y="2971800"/>
          <a:ext cx="4343400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06 /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Insights &amp;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1444752"/>
          </a:xfrm>
          <a:prstGeom prst="rect">
            <a:avLst>
              <a:gd name="adj" fmla="val 50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Champions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84708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Electronics &amp; Furniture lead with 53% of total revenue, with Laptops and TVs as top products.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97480" cy="1444752"/>
          </a:xfrm>
          <a:prstGeom prst="rect">
            <a:avLst>
              <a:gd name="adj" fmla="val 50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8872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71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Regional Leaders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184708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Central and North regions consistently outperform others, contributing over 45% of total sales.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72200" y="1188720"/>
            <a:ext cx="2697480" cy="1444752"/>
          </a:xfrm>
          <a:prstGeom prst="rect">
            <a:avLst>
              <a:gd name="adj" fmla="val 50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188720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Margin Variation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184708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Profit margin ranges from 12% to 38%, with Electronics commanding the highest margins.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2788920"/>
            <a:ext cx="2697480" cy="1444752"/>
          </a:xfrm>
          <a:prstGeom prst="rect">
            <a:avLst>
              <a:gd name="adj" fmla="val 50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788920"/>
            <a:ext cx="269748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718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2971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 Trends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44728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Credit Card is the preferred channel (33%), followed by UPI — signaling digital adoption.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2788920"/>
            <a:ext cx="2697480" cy="1444752"/>
          </a:xfrm>
          <a:prstGeom prst="rect">
            <a:avLst>
              <a:gd name="adj" fmla="val 50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2788920"/>
            <a:ext cx="2697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7180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2971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Seasonal Peaks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83280" y="344728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Revenue spikes in Q4 (Oct–Dec) with up to 25% growth, likely driven by holiday demand.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72200" y="2788920"/>
            <a:ext cx="2697480" cy="1444752"/>
          </a:xfrm>
          <a:prstGeom prst="rect">
            <a:avLst>
              <a:gd name="adj" fmla="val 50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72200" y="2788920"/>
            <a:ext cx="2697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97180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2971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Behavior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309360" y="344728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Repeat customers account for 62% of orders, highlighting strong retention potential.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07 /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572000" cy="3474720"/>
          </a:xfrm>
          <a:prstGeom prst="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8928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Improved decision-making with real-time KPI visibility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55117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41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Identified high-value products and profitable regions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2095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998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Revealed seasonal patterns to optimize inventory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8679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7581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Demonstrated data analytics as a growth engine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66360" y="1143000"/>
            <a:ext cx="3703320" cy="3474720"/>
          </a:xfrm>
          <a:prstGeom prst="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49240" y="1783080"/>
            <a:ext cx="3337560" cy="566928"/>
          </a:xfrm>
          <a:prstGeom prst="rect">
            <a:avLst>
              <a:gd name="adj" fmla="val 12903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22392" y="1819656"/>
            <a:ext cx="420624" cy="420624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4" y="1847088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25312" y="1801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Interactive Dashboards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25312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Power BI / Tableau integration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49240" y="2441448"/>
            <a:ext cx="3337560" cy="566928"/>
          </a:xfrm>
          <a:prstGeom prst="rect">
            <a:avLst>
              <a:gd name="adj" fmla="val 12903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22392" y="2478024"/>
            <a:ext cx="420624" cy="420624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505456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25312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ML Sales Prediction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925312" y="27157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Forecast with machine learning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349240" y="3099816"/>
            <a:ext cx="3337560" cy="566928"/>
          </a:xfrm>
          <a:prstGeom prst="rect">
            <a:avLst>
              <a:gd name="adj" fmla="val 12903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22392" y="3136392"/>
            <a:ext cx="420624" cy="42062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3163824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925312" y="3118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Real-time Integration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925312" y="33741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Live data pipeline &amp; streaming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349240" y="3758184"/>
            <a:ext cx="3337560" cy="566928"/>
          </a:xfrm>
          <a:prstGeom prst="rect">
            <a:avLst>
              <a:gd name="adj" fmla="val 12903"/>
            </a:avLst>
          </a:prstGeom>
          <a:solidFill>
            <a:srgbClr val="253352"/>
          </a:solidFill>
          <a:ln w="12700">
            <a:solidFill>
              <a:srgbClr val="25335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422392" y="3794760"/>
            <a:ext cx="420624" cy="420624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3822192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925312" y="3776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Customer Segmentation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925312" y="40325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RFM analysis &amp;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E2761">
              <a:alpha val="50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</a:rPr>
              <a:t>THANK 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Business Sales Analytics Dashboard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</a:rPr>
              <a:t>Data-Driven Decisions • Profitable Growth • Smarter Business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4434840"/>
            <a:ext cx="1600200" cy="384048"/>
          </a:xfrm>
          <a:prstGeom prst="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4434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4434840"/>
            <a:ext cx="1600200" cy="384048"/>
          </a:xfrm>
          <a:prstGeom prst="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4434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Pandas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03320" y="4434840"/>
            <a:ext cx="1600200" cy="384048"/>
          </a:xfrm>
          <a:prstGeom prst="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4434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4434840"/>
            <a:ext cx="1600200" cy="384048"/>
          </a:xfrm>
          <a:prstGeom prst="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4434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Seaborn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4434840"/>
            <a:ext cx="1600200" cy="384048"/>
          </a:xfrm>
          <a:prstGeom prst="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4434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Excel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7947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Sales Analytics Dashboard</dc:title>
  <dc:subject>PptxGenJS Presentation</dc:subject>
  <dc:creator>PptxGenJS</dc:creator>
  <cp:lastModifiedBy>PptxGenJS</cp:lastModifiedBy>
  <cp:revision>1</cp:revision>
  <dcterms:created xsi:type="dcterms:W3CDTF">2026-04-24T16:25:35Z</dcterms:created>
  <dcterms:modified xsi:type="dcterms:W3CDTF">2026-04-24T16:25:35Z</dcterms:modified>
</cp:coreProperties>
</file>